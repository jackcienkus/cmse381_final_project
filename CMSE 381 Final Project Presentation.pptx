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9"/>
  </p:notesMasterIdLst>
  <p:sldIdLst>
    <p:sldId id="256" r:id="rId2"/>
    <p:sldId id="275" r:id="rId3"/>
    <p:sldId id="286" r:id="rId4"/>
    <p:sldId id="282" r:id="rId5"/>
    <p:sldId id="283" r:id="rId6"/>
    <p:sldId id="284" r:id="rId7"/>
    <p:sldId id="279" r:id="rId8"/>
  </p:sldIdLst>
  <p:sldSz cx="9144000" cy="5143500" type="screen16x9"/>
  <p:notesSz cx="6858000" cy="9144000"/>
  <p:embeddedFontLst>
    <p:embeddedFont>
      <p:font typeface="DM Sans" pitchFamily="2" charset="0"/>
      <p:regular r:id="rId10"/>
      <p:bold r:id="rId11"/>
      <p:italic r:id="rId12"/>
      <p:boldItalic r:id="rId13"/>
    </p:embeddedFont>
    <p:embeddedFont>
      <p:font typeface="DM Sans Medium" pitchFamily="2" charset="0"/>
      <p:regular r:id="rId14"/>
      <p:bold r:id="rId15"/>
      <p:italic r:id="rId16"/>
      <p:boldItalic r:id="rId17"/>
    </p:embeddedFont>
    <p:embeddedFont>
      <p:font typeface="Merriweather" panose="000005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7AD932-E140-3449-82B7-53D0FBEA8ACB}" v="869" dt="2026-04-23T02:28:06.917"/>
    <p1510:client id="{98220FC7-2717-488C-8AB6-C24DFC67C105}" v="702" dt="2026-04-23T01:45:24.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d4d2cba2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d4d2cba2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TITLE_AND_BODY_1_1">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SzPts val="1000"/>
              <a:buChar char="●"/>
              <a:defRPr/>
            </a:lvl1pPr>
            <a:lvl2pPr marL="914400" lvl="1" indent="-279400" algn="ctr">
              <a:spcBef>
                <a:spcPts val="0"/>
              </a:spcBef>
              <a:spcAft>
                <a:spcPts val="0"/>
              </a:spcAft>
              <a:buSzPts val="8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97" name="Google Shape;9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8" name="Google Shape;98;p2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9" name="Google Shape;99;p2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0" name="Google Shape;100;p2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1" name="Google Shape;101;p2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2" name="Google Shape;102;p2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3" name="Google Shape;103;p2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06" name="Google Shape;106;p2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07" name="Google Shape;107;p26"/>
          <p:cNvSpPr>
            <a:spLocks noGrp="1"/>
          </p:cNvSpPr>
          <p:nvPr>
            <p:ph type="pic" idx="2"/>
          </p:nvPr>
        </p:nvSpPr>
        <p:spPr>
          <a:xfrm>
            <a:off x="4992024" y="1152775"/>
            <a:ext cx="3840300" cy="3416400"/>
          </a:xfrm>
          <a:prstGeom prst="rect">
            <a:avLst/>
          </a:prstGeom>
          <a:noFill/>
          <a:ln>
            <a:noFill/>
          </a:ln>
        </p:spPr>
      </p:sp>
      <p:sp>
        <p:nvSpPr>
          <p:cNvPr id="108" name="Google Shape;10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109"/>
        <p:cNvGrpSpPr/>
        <p:nvPr/>
      </p:nvGrpSpPr>
      <p:grpSpPr>
        <a:xfrm>
          <a:off x="0" y="0"/>
          <a:ext cx="0" cy="0"/>
          <a:chOff x="0" y="0"/>
          <a:chExt cx="0" cy="0"/>
        </a:xfrm>
      </p:grpSpPr>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1" name="Google Shape;111;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12" name="Google Shape;112;p2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3" name="Google Shape;113;p2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4" name="Google Shape;114;p2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15" name="Google Shape;115;p2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16"/>
        <p:cNvGrpSpPr/>
        <p:nvPr/>
      </p:nvGrpSpPr>
      <p:grpSpPr>
        <a:xfrm>
          <a:off x="0" y="0"/>
          <a:ext cx="0" cy="0"/>
          <a:chOff x="0" y="0"/>
          <a:chExt cx="0" cy="0"/>
        </a:xfrm>
      </p:grpSpPr>
      <p:sp>
        <p:nvSpPr>
          <p:cNvPr id="117" name="Google Shape;11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 name="Google Shape;118;p2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9" name="Google Shape;119;p2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20" name="Google Shape;120;p28"/>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21" name="Google Shape;121;p2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2" name="Google Shape;122;p28"/>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23" name="Google Shape;123;p28"/>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24" name="Google Shape;124;p28"/>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40"/>
        <p:cNvGrpSpPr/>
        <p:nvPr/>
      </p:nvGrpSpPr>
      <p:grpSpPr>
        <a:xfrm>
          <a:off x="0" y="0"/>
          <a:ext cx="0" cy="0"/>
          <a:chOff x="0" y="0"/>
          <a:chExt cx="0" cy="0"/>
        </a:xfrm>
      </p:grpSpPr>
      <p:sp>
        <p:nvSpPr>
          <p:cNvPr id="141" name="Google Shape;141;p3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2" name="Google Shape;142;p31"/>
          <p:cNvSpPr>
            <a:spLocks noGrp="1"/>
          </p:cNvSpPr>
          <p:nvPr>
            <p:ph type="pic" idx="2"/>
          </p:nvPr>
        </p:nvSpPr>
        <p:spPr>
          <a:xfrm>
            <a:off x="4804825" y="1133300"/>
            <a:ext cx="4027500" cy="2392800"/>
          </a:xfrm>
          <a:prstGeom prst="rect">
            <a:avLst/>
          </a:prstGeom>
          <a:noFill/>
          <a:ln>
            <a:noFill/>
          </a:ln>
        </p:spPr>
      </p:sp>
      <p:sp>
        <p:nvSpPr>
          <p:cNvPr id="143" name="Google Shape;143;p31"/>
          <p:cNvSpPr>
            <a:spLocks noGrp="1"/>
          </p:cNvSpPr>
          <p:nvPr>
            <p:ph type="pic" idx="3"/>
          </p:nvPr>
        </p:nvSpPr>
        <p:spPr>
          <a:xfrm>
            <a:off x="311725" y="1133300"/>
            <a:ext cx="4027500" cy="2392800"/>
          </a:xfrm>
          <a:prstGeom prst="rect">
            <a:avLst/>
          </a:prstGeom>
          <a:noFill/>
          <a:ln>
            <a:noFill/>
          </a:ln>
        </p:spPr>
      </p:sp>
      <p:sp>
        <p:nvSpPr>
          <p:cNvPr id="144" name="Google Shape;144;p3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5" name="Google Shape;14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47" name="Google Shape;147;p3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48" name="Google Shape;148;p3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49"/>
        <p:cNvGrpSpPr/>
        <p:nvPr/>
      </p:nvGrpSpPr>
      <p:grpSpPr>
        <a:xfrm>
          <a:off x="0" y="0"/>
          <a:ext cx="0" cy="0"/>
          <a:chOff x="0" y="0"/>
          <a:chExt cx="0" cy="0"/>
        </a:xfrm>
      </p:grpSpPr>
      <p:sp>
        <p:nvSpPr>
          <p:cNvPr id="150" name="Google Shape;150;p3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1" name="Google Shape;151;p32"/>
          <p:cNvSpPr>
            <a:spLocks noGrp="1"/>
          </p:cNvSpPr>
          <p:nvPr>
            <p:ph type="pic" idx="2"/>
          </p:nvPr>
        </p:nvSpPr>
        <p:spPr>
          <a:xfrm>
            <a:off x="6205225" y="1128325"/>
            <a:ext cx="2627100" cy="2273100"/>
          </a:xfrm>
          <a:prstGeom prst="rect">
            <a:avLst/>
          </a:prstGeom>
          <a:noFill/>
          <a:ln>
            <a:noFill/>
          </a:ln>
        </p:spPr>
      </p:sp>
      <p:sp>
        <p:nvSpPr>
          <p:cNvPr id="152" name="Google Shape;152;p32"/>
          <p:cNvSpPr>
            <a:spLocks noGrp="1"/>
          </p:cNvSpPr>
          <p:nvPr>
            <p:ph type="pic" idx="3"/>
          </p:nvPr>
        </p:nvSpPr>
        <p:spPr>
          <a:xfrm>
            <a:off x="311725" y="1128325"/>
            <a:ext cx="2627100" cy="2273100"/>
          </a:xfrm>
          <a:prstGeom prst="rect">
            <a:avLst/>
          </a:prstGeom>
          <a:noFill/>
          <a:ln>
            <a:noFill/>
          </a:ln>
        </p:spPr>
      </p:sp>
      <p:sp>
        <p:nvSpPr>
          <p:cNvPr id="153" name="Google Shape;153;p3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4" name="Google Shape;154;p32"/>
          <p:cNvSpPr>
            <a:spLocks noGrp="1"/>
          </p:cNvSpPr>
          <p:nvPr>
            <p:ph type="pic" idx="5"/>
          </p:nvPr>
        </p:nvSpPr>
        <p:spPr>
          <a:xfrm>
            <a:off x="3255250" y="1128325"/>
            <a:ext cx="2627100" cy="2273100"/>
          </a:xfrm>
          <a:prstGeom prst="rect">
            <a:avLst/>
          </a:prstGeom>
          <a:noFill/>
          <a:ln>
            <a:noFill/>
          </a:ln>
        </p:spPr>
      </p:sp>
      <p:sp>
        <p:nvSpPr>
          <p:cNvPr id="155" name="Google Shape;155;p3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6" name="Google Shape;15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7" name="Google Shape;15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58" name="Google Shape;158;p3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59" name="Google Shape;159;p3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60" name="Google Shape;160;p3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61"/>
        <p:cNvGrpSpPr/>
        <p:nvPr/>
      </p:nvGrpSpPr>
      <p:grpSpPr>
        <a:xfrm>
          <a:off x="0" y="0"/>
          <a:ext cx="0" cy="0"/>
          <a:chOff x="0" y="0"/>
          <a:chExt cx="0" cy="0"/>
        </a:xfrm>
      </p:grpSpPr>
      <p:sp>
        <p:nvSpPr>
          <p:cNvPr id="162" name="Google Shape;162;p33"/>
          <p:cNvSpPr>
            <a:spLocks noGrp="1"/>
          </p:cNvSpPr>
          <p:nvPr>
            <p:ph type="pic" idx="2"/>
          </p:nvPr>
        </p:nvSpPr>
        <p:spPr>
          <a:xfrm>
            <a:off x="311700" y="445025"/>
            <a:ext cx="8520600" cy="4218300"/>
          </a:xfrm>
          <a:prstGeom prst="rect">
            <a:avLst/>
          </a:prstGeom>
          <a:noFill/>
          <a:ln>
            <a:noFill/>
          </a:ln>
        </p:spPr>
      </p:sp>
      <p:sp>
        <p:nvSpPr>
          <p:cNvPr id="163" name="Google Shape;163;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64"/>
        <p:cNvGrpSpPr/>
        <p:nvPr/>
      </p:nvGrpSpPr>
      <p:grpSpPr>
        <a:xfrm>
          <a:off x="0" y="0"/>
          <a:ext cx="0" cy="0"/>
          <a:chOff x="0" y="0"/>
          <a:chExt cx="0" cy="0"/>
        </a:xfrm>
      </p:grpSpPr>
      <p:sp>
        <p:nvSpPr>
          <p:cNvPr id="165" name="Google Shape;16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4"/>
          <p:cNvSpPr>
            <a:spLocks noGrp="1"/>
          </p:cNvSpPr>
          <p:nvPr>
            <p:ph type="pic" idx="2"/>
          </p:nvPr>
        </p:nvSpPr>
        <p:spPr>
          <a:xfrm>
            <a:off x="3389600" y="118913"/>
            <a:ext cx="1643700" cy="1535100"/>
          </a:xfrm>
          <a:prstGeom prst="rect">
            <a:avLst/>
          </a:prstGeom>
          <a:noFill/>
          <a:ln>
            <a:noFill/>
          </a:ln>
        </p:spPr>
      </p:sp>
      <p:sp>
        <p:nvSpPr>
          <p:cNvPr id="167" name="Google Shape;167;p34"/>
          <p:cNvSpPr>
            <a:spLocks noGrp="1"/>
          </p:cNvSpPr>
          <p:nvPr>
            <p:ph type="pic" idx="3"/>
          </p:nvPr>
        </p:nvSpPr>
        <p:spPr>
          <a:xfrm>
            <a:off x="5195935" y="118913"/>
            <a:ext cx="1643700" cy="1535100"/>
          </a:xfrm>
          <a:prstGeom prst="rect">
            <a:avLst/>
          </a:prstGeom>
          <a:noFill/>
          <a:ln>
            <a:noFill/>
          </a:ln>
        </p:spPr>
      </p:sp>
      <p:sp>
        <p:nvSpPr>
          <p:cNvPr id="168" name="Google Shape;168;p34"/>
          <p:cNvSpPr>
            <a:spLocks noGrp="1"/>
          </p:cNvSpPr>
          <p:nvPr>
            <p:ph type="pic" idx="4"/>
          </p:nvPr>
        </p:nvSpPr>
        <p:spPr>
          <a:xfrm>
            <a:off x="7002270" y="118913"/>
            <a:ext cx="1643700" cy="1535100"/>
          </a:xfrm>
          <a:prstGeom prst="rect">
            <a:avLst/>
          </a:prstGeom>
          <a:noFill/>
          <a:ln>
            <a:noFill/>
          </a:ln>
        </p:spPr>
      </p:sp>
      <p:sp>
        <p:nvSpPr>
          <p:cNvPr id="169" name="Google Shape;169;p34"/>
          <p:cNvSpPr>
            <a:spLocks noGrp="1"/>
          </p:cNvSpPr>
          <p:nvPr>
            <p:ph type="pic" idx="5"/>
          </p:nvPr>
        </p:nvSpPr>
        <p:spPr>
          <a:xfrm>
            <a:off x="3389588" y="1804212"/>
            <a:ext cx="1643700" cy="1535100"/>
          </a:xfrm>
          <a:prstGeom prst="rect">
            <a:avLst/>
          </a:prstGeom>
          <a:noFill/>
          <a:ln>
            <a:noFill/>
          </a:ln>
        </p:spPr>
      </p:sp>
      <p:sp>
        <p:nvSpPr>
          <p:cNvPr id="170" name="Google Shape;170;p34"/>
          <p:cNvSpPr>
            <a:spLocks noGrp="1"/>
          </p:cNvSpPr>
          <p:nvPr>
            <p:ph type="pic" idx="6"/>
          </p:nvPr>
        </p:nvSpPr>
        <p:spPr>
          <a:xfrm>
            <a:off x="5195922" y="1804212"/>
            <a:ext cx="1643700" cy="1535100"/>
          </a:xfrm>
          <a:prstGeom prst="rect">
            <a:avLst/>
          </a:prstGeom>
          <a:noFill/>
          <a:ln>
            <a:noFill/>
          </a:ln>
        </p:spPr>
      </p:sp>
      <p:sp>
        <p:nvSpPr>
          <p:cNvPr id="171" name="Google Shape;171;p34"/>
          <p:cNvSpPr>
            <a:spLocks noGrp="1"/>
          </p:cNvSpPr>
          <p:nvPr>
            <p:ph type="pic" idx="7"/>
          </p:nvPr>
        </p:nvSpPr>
        <p:spPr>
          <a:xfrm>
            <a:off x="7002257" y="1804212"/>
            <a:ext cx="1643700" cy="1535100"/>
          </a:xfrm>
          <a:prstGeom prst="rect">
            <a:avLst/>
          </a:prstGeom>
          <a:noFill/>
          <a:ln>
            <a:noFill/>
          </a:ln>
        </p:spPr>
      </p:sp>
      <p:sp>
        <p:nvSpPr>
          <p:cNvPr id="172" name="Google Shape;172;p3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73" name="Google Shape;173;p34"/>
          <p:cNvSpPr>
            <a:spLocks noGrp="1"/>
          </p:cNvSpPr>
          <p:nvPr>
            <p:ph type="pic" idx="8"/>
          </p:nvPr>
        </p:nvSpPr>
        <p:spPr>
          <a:xfrm>
            <a:off x="3389588" y="3489487"/>
            <a:ext cx="1643700" cy="1535100"/>
          </a:xfrm>
          <a:prstGeom prst="rect">
            <a:avLst/>
          </a:prstGeom>
          <a:noFill/>
          <a:ln>
            <a:noFill/>
          </a:ln>
        </p:spPr>
      </p:sp>
      <p:sp>
        <p:nvSpPr>
          <p:cNvPr id="174" name="Google Shape;174;p34"/>
          <p:cNvSpPr>
            <a:spLocks noGrp="1"/>
          </p:cNvSpPr>
          <p:nvPr>
            <p:ph type="pic" idx="9"/>
          </p:nvPr>
        </p:nvSpPr>
        <p:spPr>
          <a:xfrm>
            <a:off x="5195922" y="3489487"/>
            <a:ext cx="1643700" cy="1535100"/>
          </a:xfrm>
          <a:prstGeom prst="rect">
            <a:avLst/>
          </a:prstGeom>
          <a:noFill/>
          <a:ln>
            <a:noFill/>
          </a:ln>
        </p:spPr>
      </p:sp>
      <p:sp>
        <p:nvSpPr>
          <p:cNvPr id="175" name="Google Shape;175;p3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stom title slide" type="title">
  <p:cSld name="TITLE">
    <p:bg>
      <p:bgPr>
        <a:solidFill>
          <a:schemeClr val="dk1"/>
        </a:solidFill>
        <a:effectLst/>
      </p:bgPr>
    </p:bg>
    <p:spTree>
      <p:nvGrpSpPr>
        <p:cNvPr id="1" name="Shape 176"/>
        <p:cNvGrpSpPr/>
        <p:nvPr/>
      </p:nvGrpSpPr>
      <p:grpSpPr>
        <a:xfrm>
          <a:off x="0" y="0"/>
          <a:ext cx="0" cy="0"/>
          <a:chOff x="0" y="0"/>
          <a:chExt cx="0" cy="0"/>
        </a:xfrm>
      </p:grpSpPr>
      <p:sp>
        <p:nvSpPr>
          <p:cNvPr id="177" name="Google Shape;177;p35"/>
          <p:cNvSpPr txBox="1">
            <a:spLocks noGrp="1"/>
          </p:cNvSpPr>
          <p:nvPr>
            <p:ph type="body" idx="1"/>
          </p:nvPr>
        </p:nvSpPr>
        <p:spPr>
          <a:xfrm>
            <a:off x="196951" y="4737750"/>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178" name="Google Shape;178;p35"/>
          <p:cNvSpPr txBox="1">
            <a:spLocks noGrp="1"/>
          </p:cNvSpPr>
          <p:nvPr>
            <p:ph type="ctrTitle"/>
          </p:nvPr>
        </p:nvSpPr>
        <p:spPr>
          <a:xfrm>
            <a:off x="196950" y="223825"/>
            <a:ext cx="8011800" cy="1877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a:endParaRPr/>
          </a:p>
        </p:txBody>
      </p:sp>
      <p:sp>
        <p:nvSpPr>
          <p:cNvPr id="179" name="Google Shape;179;p35"/>
          <p:cNvSpPr txBox="1">
            <a:spLocks noGrp="1"/>
          </p:cNvSpPr>
          <p:nvPr>
            <p:ph type="subTitle" idx="2"/>
          </p:nvPr>
        </p:nvSpPr>
        <p:spPr>
          <a:xfrm>
            <a:off x="196950" y="2171250"/>
            <a:ext cx="3986700" cy="55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180" name="Google Shape;180;p35"/>
          <p:cNvSpPr>
            <a:spLocks noGrp="1"/>
          </p:cNvSpPr>
          <p:nvPr>
            <p:ph type="pic" idx="3"/>
          </p:nvPr>
        </p:nvSpPr>
        <p:spPr>
          <a:xfrm>
            <a:off x="4437578" y="2171250"/>
            <a:ext cx="4509600" cy="2775600"/>
          </a:xfrm>
          <a:prstGeom prst="round2DiagRect">
            <a:avLst>
              <a:gd name="adj1" fmla="val 16667"/>
              <a:gd name="adj2" fmla="val 0"/>
            </a:avLst>
          </a:prstGeom>
          <a:noFill/>
          <a:ln>
            <a:noFill/>
          </a:ln>
        </p:spPr>
        <p:txBody>
          <a:bodyPr/>
          <a:lstStyle/>
          <a:p>
            <a:endParaRPr lang="en-US"/>
          </a:p>
        </p:txBody>
      </p:sp>
      <p:sp>
        <p:nvSpPr>
          <p:cNvPr id="181" name="Google Shape;181;p35"/>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9pPr>
          </a:lstStyle>
          <a:p>
            <a:endParaRPr/>
          </a:p>
        </p:txBody>
      </p:sp>
      <p:sp>
        <p:nvSpPr>
          <p:cNvPr id="52" name="Google Shape;52;p13"/>
          <p:cNvSpPr txBox="1">
            <a:spLocks noGrp="1"/>
          </p:cNvSpPr>
          <p:nvPr>
            <p:ph type="body" idx="1"/>
          </p:nvPr>
        </p:nvSpPr>
        <p:spPr>
          <a:xfrm>
            <a:off x="311700" y="1152475"/>
            <a:ext cx="8520600" cy="17601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marL="914400" lvl="1" indent="-279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marL="1371600" lvl="2"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marL="1828800" lvl="3"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marL="2286000" lvl="4"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marL="2743200" lvl="5"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marL="3200400" lvl="6"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marL="3657600" lvl="7"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marL="4114800" lvl="8"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3" r:id="rId3"/>
    <p:sldLayoutId id="2147483664"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6" r:id="rId13"/>
    <p:sldLayoutId id="2147483677" r:id="rId14"/>
    <p:sldLayoutId id="2147483678" r:id="rId15"/>
    <p:sldLayoutId id="2147483679" r:id="rId16"/>
    <p:sldLayoutId id="214748368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msu-cmse-courses.github.io/CMSE381-S26/Lectures/13-Ch5_1-KFoldCV/slides.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cikit-learn.org/stable/auto_examples/tree/plot_cost_complexity_pruning.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3" name="Google Shape;263;p44"/>
          <p:cNvSpPr txBox="1">
            <a:spLocks noGrp="1"/>
          </p:cNvSpPr>
          <p:nvPr>
            <p:ph type="ctrTitle"/>
          </p:nvPr>
        </p:nvSpPr>
        <p:spPr>
          <a:xfrm>
            <a:off x="196950" y="223825"/>
            <a:ext cx="8011800" cy="18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Is Private School worth the cost?</a:t>
            </a:r>
            <a:endParaRPr/>
          </a:p>
        </p:txBody>
      </p:sp>
      <p:sp>
        <p:nvSpPr>
          <p:cNvPr id="264" name="Google Shape;264;p44"/>
          <p:cNvSpPr txBox="1">
            <a:spLocks noGrp="1"/>
          </p:cNvSpPr>
          <p:nvPr>
            <p:ph type="subTitle" idx="2"/>
          </p:nvPr>
        </p:nvSpPr>
        <p:spPr>
          <a:xfrm>
            <a:off x="196950" y="4182150"/>
            <a:ext cx="4446612" cy="55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Jack </a:t>
            </a:r>
            <a:r>
              <a:rPr lang="en" err="1"/>
              <a:t>Cienkus</a:t>
            </a:r>
            <a:r>
              <a:rPr lang="en"/>
              <a:t> and Kathryn Tumavitch</a:t>
            </a:r>
            <a:endParaRPr/>
          </a:p>
        </p:txBody>
      </p:sp>
      <p:sp>
        <p:nvSpPr>
          <p:cNvPr id="265" name="Google Shape;265;p44"/>
          <p:cNvSpPr txBox="1">
            <a:spLocks noGrp="1"/>
          </p:cNvSpPr>
          <p:nvPr>
            <p:ph type="body" idx="1"/>
          </p:nvPr>
        </p:nvSpPr>
        <p:spPr>
          <a:xfrm>
            <a:off x="196951" y="4737750"/>
            <a:ext cx="1860300" cy="209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US"/>
              <a:t>CMSE 381 – Section 002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976BB-2C24-6D59-CF76-133776470CCE}"/>
              </a:ext>
            </a:extLst>
          </p:cNvPr>
          <p:cNvSpPr>
            <a:spLocks noGrp="1"/>
          </p:cNvSpPr>
          <p:nvPr>
            <p:ph type="title"/>
          </p:nvPr>
        </p:nvSpPr>
        <p:spPr/>
        <p:txBody>
          <a:bodyPr>
            <a:normAutofit fontScale="90000"/>
          </a:bodyPr>
          <a:lstStyle/>
          <a:p>
            <a:r>
              <a:rPr lang="en-US"/>
              <a:t>Defining the Dataset and Question</a:t>
            </a:r>
          </a:p>
        </p:txBody>
      </p:sp>
      <p:sp>
        <p:nvSpPr>
          <p:cNvPr id="3" name="Text Placeholder 2">
            <a:extLst>
              <a:ext uri="{FF2B5EF4-FFF2-40B4-BE49-F238E27FC236}">
                <a16:creationId xmlns:a16="http://schemas.microsoft.com/office/drawing/2014/main" id="{AE60D3F3-9D4E-FA4A-0FA6-7A2A18B730BB}"/>
              </a:ext>
            </a:extLst>
          </p:cNvPr>
          <p:cNvSpPr>
            <a:spLocks noGrp="1"/>
          </p:cNvSpPr>
          <p:nvPr>
            <p:ph type="body" idx="1"/>
          </p:nvPr>
        </p:nvSpPr>
        <p:spPr/>
        <p:txBody>
          <a:bodyPr>
            <a:normAutofit lnSpcReduction="10000"/>
          </a:bodyPr>
          <a:lstStyle/>
          <a:p>
            <a:r>
              <a:rPr lang="en-US" sz="1400">
                <a:solidFill>
                  <a:schemeClr val="bg2"/>
                </a:solidFill>
              </a:rPr>
              <a:t>We used "Student Academic Performance Dataset" by ayeshasiddiqa123</a:t>
            </a:r>
          </a:p>
          <a:p>
            <a:r>
              <a:rPr lang="en-US" sz="1400">
                <a:solidFill>
                  <a:schemeClr val="bg2"/>
                </a:solidFill>
              </a:rPr>
              <a:t>Information on 6,607 students</a:t>
            </a:r>
          </a:p>
          <a:p>
            <a:r>
              <a:rPr lang="en-US" sz="1400">
                <a:solidFill>
                  <a:schemeClr val="bg2"/>
                </a:solidFill>
              </a:rPr>
              <a:t>Dataset was cleaned by removing rows with NA values leaving 6,378 students</a:t>
            </a:r>
          </a:p>
          <a:p>
            <a:r>
              <a:rPr lang="en-US" sz="1400">
                <a:solidFill>
                  <a:schemeClr val="bg2"/>
                </a:solidFill>
              </a:rPr>
              <a:t>Hours Studied, Parental Involvement, Access to Resources, Extracurricular Activities, Sleep Hours, Previous Scores, Motivation Level, Internet Access, Tutoring Sessions, Family Income, Teacher Quality, School Type, Peer Influence, Physical Activity, Learning Disabilities,  Parental Education, Level, Distance From Home, Gender, and Exam Score</a:t>
            </a:r>
          </a:p>
          <a:p>
            <a:r>
              <a:rPr lang="en-US" sz="1400">
                <a:solidFill>
                  <a:schemeClr val="bg2"/>
                </a:solidFill>
              </a:rPr>
              <a:t>Uses Exam Score as metric to determine worth of school type</a:t>
            </a:r>
          </a:p>
          <a:p>
            <a:pPr lvl="1"/>
            <a:r>
              <a:rPr lang="en-US" sz="1200">
                <a:solidFill>
                  <a:schemeClr val="bg2"/>
                </a:solidFill>
              </a:rPr>
              <a:t>Easy to quantify and a simple metric for student performance</a:t>
            </a:r>
          </a:p>
          <a:p>
            <a:pPr marL="165100" indent="0">
              <a:buNone/>
            </a:pPr>
            <a:endParaRPr lang="en-US" sz="1200" b="1">
              <a:solidFill>
                <a:schemeClr val="bg2"/>
              </a:solidFill>
            </a:endParaRPr>
          </a:p>
          <a:p>
            <a:pPr marL="165100" indent="0">
              <a:buNone/>
            </a:pPr>
            <a:r>
              <a:rPr lang="en-US" sz="2000" b="1">
                <a:solidFill>
                  <a:schemeClr val="bg2"/>
                </a:solidFill>
              </a:rPr>
              <a:t>Can we predict school type based on exam score? Is school type within the top three most influential factors for predicting exam score?</a:t>
            </a:r>
          </a:p>
        </p:txBody>
      </p:sp>
    </p:spTree>
    <p:extLst>
      <p:ext uri="{BB962C8B-B14F-4D97-AF65-F5344CB8AC3E}">
        <p14:creationId xmlns:p14="http://schemas.microsoft.com/office/powerpoint/2010/main" val="219238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B605E-684A-A4BF-B62A-5D3EF125B237}"/>
              </a:ext>
            </a:extLst>
          </p:cNvPr>
          <p:cNvSpPr>
            <a:spLocks noGrp="1"/>
          </p:cNvSpPr>
          <p:nvPr>
            <p:ph type="title"/>
          </p:nvPr>
        </p:nvSpPr>
        <p:spPr/>
        <p:txBody>
          <a:bodyPr/>
          <a:lstStyle/>
          <a:p>
            <a:r>
              <a:rPr lang="en-US" sz="2800"/>
              <a:t>The Models – Classification and Regression</a:t>
            </a:r>
            <a:endParaRPr lang="en-US" b="0"/>
          </a:p>
        </p:txBody>
      </p:sp>
      <p:sp>
        <p:nvSpPr>
          <p:cNvPr id="3" name="Text Placeholder 2">
            <a:extLst>
              <a:ext uri="{FF2B5EF4-FFF2-40B4-BE49-F238E27FC236}">
                <a16:creationId xmlns:a16="http://schemas.microsoft.com/office/drawing/2014/main" id="{5B3CCD9D-751D-5D94-D393-03D8BAFA0B29}"/>
              </a:ext>
            </a:extLst>
          </p:cNvPr>
          <p:cNvSpPr>
            <a:spLocks noGrp="1"/>
          </p:cNvSpPr>
          <p:nvPr>
            <p:ph type="body" idx="1"/>
          </p:nvPr>
        </p:nvSpPr>
        <p:spPr/>
        <p:txBody>
          <a:bodyPr/>
          <a:lstStyle/>
          <a:p>
            <a:r>
              <a:rPr lang="en-US" sz="1600" b="1">
                <a:solidFill>
                  <a:schemeClr val="bg2"/>
                </a:solidFill>
              </a:rPr>
              <a:t>Logistic Regression</a:t>
            </a:r>
          </a:p>
          <a:p>
            <a:pPr lvl="1"/>
            <a:r>
              <a:rPr lang="en-US" sz="1400">
                <a:solidFill>
                  <a:schemeClr val="bg2"/>
                </a:solidFill>
              </a:rPr>
              <a:t>80/20 train test split</a:t>
            </a:r>
          </a:p>
          <a:p>
            <a:pPr lvl="1"/>
            <a:r>
              <a:rPr lang="en-US" sz="1400">
                <a:solidFill>
                  <a:schemeClr val="bg2"/>
                </a:solidFill>
              </a:rPr>
              <a:t>1000 iterations max</a:t>
            </a:r>
          </a:p>
          <a:p>
            <a:pPr marL="635000" lvl="1" indent="0">
              <a:buNone/>
            </a:pPr>
            <a:endParaRPr lang="en-US" sz="1600">
              <a:solidFill>
                <a:schemeClr val="bg2"/>
              </a:solidFill>
            </a:endParaRPr>
          </a:p>
          <a:p>
            <a:r>
              <a:rPr lang="en-US" sz="1600" b="1">
                <a:solidFill>
                  <a:schemeClr val="bg2"/>
                </a:solidFill>
              </a:rPr>
              <a:t>Random forest</a:t>
            </a:r>
          </a:p>
          <a:p>
            <a:pPr lvl="1"/>
            <a:r>
              <a:rPr lang="en-US" sz="1400">
                <a:solidFill>
                  <a:schemeClr val="bg2"/>
                </a:solidFill>
              </a:rPr>
              <a:t>80/20 train test split</a:t>
            </a:r>
          </a:p>
          <a:p>
            <a:pPr lvl="1"/>
            <a:r>
              <a:rPr lang="en-US" sz="1400">
                <a:solidFill>
                  <a:schemeClr val="bg2"/>
                </a:solidFill>
              </a:rPr>
              <a:t>100 estimators</a:t>
            </a:r>
          </a:p>
        </p:txBody>
      </p:sp>
      <p:sp>
        <p:nvSpPr>
          <p:cNvPr id="4" name="Text Placeholder 3">
            <a:extLst>
              <a:ext uri="{FF2B5EF4-FFF2-40B4-BE49-F238E27FC236}">
                <a16:creationId xmlns:a16="http://schemas.microsoft.com/office/drawing/2014/main" id="{27961D60-B4EB-7736-FC99-C3FDF966EB20}"/>
              </a:ext>
            </a:extLst>
          </p:cNvPr>
          <p:cNvSpPr>
            <a:spLocks noGrp="1"/>
          </p:cNvSpPr>
          <p:nvPr>
            <p:ph type="body" idx="2"/>
          </p:nvPr>
        </p:nvSpPr>
        <p:spPr/>
        <p:txBody>
          <a:bodyPr>
            <a:normAutofit/>
          </a:bodyPr>
          <a:lstStyle/>
          <a:p>
            <a:r>
              <a:rPr lang="en-US" sz="1600" b="1">
                <a:solidFill>
                  <a:schemeClr val="bg2"/>
                </a:solidFill>
              </a:rPr>
              <a:t>Linear Regression</a:t>
            </a:r>
          </a:p>
          <a:p>
            <a:pPr lvl="1"/>
            <a:r>
              <a:rPr lang="en-US" sz="1400">
                <a:solidFill>
                  <a:schemeClr val="bg2"/>
                </a:solidFill>
              </a:rPr>
              <a:t>80/20 train test split</a:t>
            </a:r>
          </a:p>
          <a:p>
            <a:pPr lvl="1"/>
            <a:r>
              <a:rPr lang="en-US" sz="1400">
                <a:solidFill>
                  <a:schemeClr val="bg2"/>
                </a:solidFill>
              </a:rPr>
              <a:t> Forward Backward Selection</a:t>
            </a:r>
          </a:p>
          <a:p>
            <a:pPr marL="165100" indent="0">
              <a:buNone/>
            </a:pPr>
            <a:endParaRPr lang="en-US" sz="1600" b="1">
              <a:solidFill>
                <a:schemeClr val="bg2"/>
              </a:solidFill>
            </a:endParaRPr>
          </a:p>
          <a:p>
            <a:r>
              <a:rPr lang="en-US" sz="1600" b="1">
                <a:solidFill>
                  <a:schemeClr val="bg2"/>
                </a:solidFill>
              </a:rPr>
              <a:t>Random Forest</a:t>
            </a:r>
          </a:p>
          <a:p>
            <a:pPr lvl="1"/>
            <a:r>
              <a:rPr lang="en-US" sz="1400">
                <a:solidFill>
                  <a:schemeClr val="bg2"/>
                </a:solidFill>
              </a:rPr>
              <a:t>Post train pruning</a:t>
            </a:r>
          </a:p>
          <a:p>
            <a:pPr lvl="1"/>
            <a:r>
              <a:rPr lang="en-US" sz="1400">
                <a:solidFill>
                  <a:schemeClr val="bg2"/>
                </a:solidFill>
              </a:rPr>
              <a:t>K-fold CV</a:t>
            </a:r>
          </a:p>
          <a:p>
            <a:pPr marL="635000" lvl="1" indent="0">
              <a:buNone/>
            </a:pPr>
            <a:endParaRPr lang="en-US" sz="1400">
              <a:solidFill>
                <a:schemeClr val="bg2"/>
              </a:solidFill>
            </a:endParaRPr>
          </a:p>
        </p:txBody>
      </p:sp>
      <p:sp>
        <p:nvSpPr>
          <p:cNvPr id="5" name="Subtitle 4">
            <a:extLst>
              <a:ext uri="{FF2B5EF4-FFF2-40B4-BE49-F238E27FC236}">
                <a16:creationId xmlns:a16="http://schemas.microsoft.com/office/drawing/2014/main" id="{A385A586-4D58-150C-F9CA-2E29AE6ABBDA}"/>
              </a:ext>
            </a:extLst>
          </p:cNvPr>
          <p:cNvSpPr>
            <a:spLocks noGrp="1"/>
          </p:cNvSpPr>
          <p:nvPr>
            <p:ph type="subTitle" idx="3"/>
          </p:nvPr>
        </p:nvSpPr>
        <p:spPr>
          <a:xfrm>
            <a:off x="161365" y="1336161"/>
            <a:ext cx="3941585" cy="542700"/>
          </a:xfrm>
        </p:spPr>
        <p:txBody>
          <a:bodyPr/>
          <a:lstStyle/>
          <a:p>
            <a:r>
              <a:rPr lang="en-US"/>
              <a:t>Classifying School Type based on Exam Score </a:t>
            </a:r>
          </a:p>
          <a:p>
            <a:endParaRPr lang="en-US"/>
          </a:p>
        </p:txBody>
      </p:sp>
      <p:sp>
        <p:nvSpPr>
          <p:cNvPr id="6" name="Subtitle 5">
            <a:extLst>
              <a:ext uri="{FF2B5EF4-FFF2-40B4-BE49-F238E27FC236}">
                <a16:creationId xmlns:a16="http://schemas.microsoft.com/office/drawing/2014/main" id="{6F5BB192-DB09-57CB-3C96-9492627819D8}"/>
              </a:ext>
            </a:extLst>
          </p:cNvPr>
          <p:cNvSpPr>
            <a:spLocks noGrp="1"/>
          </p:cNvSpPr>
          <p:nvPr>
            <p:ph type="subTitle" idx="4"/>
          </p:nvPr>
        </p:nvSpPr>
        <p:spPr>
          <a:xfrm>
            <a:off x="4726190" y="1336161"/>
            <a:ext cx="3941585" cy="542700"/>
          </a:xfrm>
        </p:spPr>
        <p:txBody>
          <a:bodyPr/>
          <a:lstStyle/>
          <a:p>
            <a:r>
              <a:rPr lang="en-US"/>
              <a:t>Predicting Exam Score based on all other features</a:t>
            </a:r>
          </a:p>
          <a:p>
            <a:endParaRPr lang="en-US"/>
          </a:p>
        </p:txBody>
      </p:sp>
    </p:spTree>
    <p:extLst>
      <p:ext uri="{BB962C8B-B14F-4D97-AF65-F5344CB8AC3E}">
        <p14:creationId xmlns:p14="http://schemas.microsoft.com/office/powerpoint/2010/main" val="802325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A9774-95E5-3ACD-DD1E-87260FB40C0B}"/>
              </a:ext>
            </a:extLst>
          </p:cNvPr>
          <p:cNvSpPr>
            <a:spLocks noGrp="1"/>
          </p:cNvSpPr>
          <p:nvPr>
            <p:ph type="title"/>
          </p:nvPr>
        </p:nvSpPr>
        <p:spPr/>
        <p:txBody>
          <a:bodyPr>
            <a:normAutofit fontScale="90000"/>
          </a:bodyPr>
          <a:lstStyle/>
          <a:p>
            <a:r>
              <a:rPr lang="en-US"/>
              <a:t>Computational Techniques – Forward/Backward Selection</a:t>
            </a:r>
          </a:p>
        </p:txBody>
      </p:sp>
      <p:sp>
        <p:nvSpPr>
          <p:cNvPr id="7" name="Subtitle 6">
            <a:extLst>
              <a:ext uri="{FF2B5EF4-FFF2-40B4-BE49-F238E27FC236}">
                <a16:creationId xmlns:a16="http://schemas.microsoft.com/office/drawing/2014/main" id="{B203C1F6-3169-6375-1121-96C8DABD32C7}"/>
              </a:ext>
            </a:extLst>
          </p:cNvPr>
          <p:cNvSpPr>
            <a:spLocks noGrp="1"/>
          </p:cNvSpPr>
          <p:nvPr>
            <p:ph type="subTitle" idx="3"/>
          </p:nvPr>
        </p:nvSpPr>
        <p:spPr/>
        <p:txBody>
          <a:bodyPr/>
          <a:lstStyle/>
          <a:p>
            <a:pPr algn="ctr"/>
            <a:r>
              <a:rPr lang="en-US"/>
              <a:t>Forward Selection</a:t>
            </a:r>
          </a:p>
        </p:txBody>
      </p:sp>
      <p:sp>
        <p:nvSpPr>
          <p:cNvPr id="8" name="Subtitle 7">
            <a:extLst>
              <a:ext uri="{FF2B5EF4-FFF2-40B4-BE49-F238E27FC236}">
                <a16:creationId xmlns:a16="http://schemas.microsoft.com/office/drawing/2014/main" id="{FC823F93-BB30-6867-15EF-B7794EF79219}"/>
              </a:ext>
            </a:extLst>
          </p:cNvPr>
          <p:cNvSpPr>
            <a:spLocks noGrp="1"/>
          </p:cNvSpPr>
          <p:nvPr>
            <p:ph type="subTitle" idx="4"/>
          </p:nvPr>
        </p:nvSpPr>
        <p:spPr/>
        <p:txBody>
          <a:bodyPr/>
          <a:lstStyle/>
          <a:p>
            <a:pPr algn="ctr"/>
            <a:r>
              <a:rPr lang="en-US"/>
              <a:t>Backward Selection</a:t>
            </a:r>
          </a:p>
        </p:txBody>
      </p:sp>
      <p:pic>
        <p:nvPicPr>
          <p:cNvPr id="4" name="Picture 3">
            <a:extLst>
              <a:ext uri="{FF2B5EF4-FFF2-40B4-BE49-F238E27FC236}">
                <a16:creationId xmlns:a16="http://schemas.microsoft.com/office/drawing/2014/main" id="{3E04F83E-B42D-B7A4-3545-F208091E3DF9}"/>
              </a:ext>
            </a:extLst>
          </p:cNvPr>
          <p:cNvPicPr>
            <a:picLocks noChangeAspect="1"/>
          </p:cNvPicPr>
          <p:nvPr/>
        </p:nvPicPr>
        <p:blipFill>
          <a:blip r:embed="rId2"/>
          <a:stretch>
            <a:fillRect/>
          </a:stretch>
        </p:blipFill>
        <p:spPr>
          <a:xfrm>
            <a:off x="533908" y="1878861"/>
            <a:ext cx="3518284" cy="2921964"/>
          </a:xfrm>
          <a:prstGeom prst="rect">
            <a:avLst/>
          </a:prstGeom>
        </p:spPr>
      </p:pic>
      <p:pic>
        <p:nvPicPr>
          <p:cNvPr id="10" name="Picture 9">
            <a:extLst>
              <a:ext uri="{FF2B5EF4-FFF2-40B4-BE49-F238E27FC236}">
                <a16:creationId xmlns:a16="http://schemas.microsoft.com/office/drawing/2014/main" id="{3379664E-BA6D-64A0-DD50-8C4012F52F93}"/>
              </a:ext>
            </a:extLst>
          </p:cNvPr>
          <p:cNvPicPr>
            <a:picLocks noChangeAspect="1"/>
          </p:cNvPicPr>
          <p:nvPr/>
        </p:nvPicPr>
        <p:blipFill>
          <a:blip r:embed="rId3"/>
          <a:stretch>
            <a:fillRect/>
          </a:stretch>
        </p:blipFill>
        <p:spPr>
          <a:xfrm>
            <a:off x="5098758" y="1878861"/>
            <a:ext cx="3518284" cy="2921965"/>
          </a:xfrm>
          <a:prstGeom prst="rect">
            <a:avLst/>
          </a:prstGeom>
        </p:spPr>
      </p:pic>
    </p:spTree>
    <p:extLst>
      <p:ext uri="{BB962C8B-B14F-4D97-AF65-F5344CB8AC3E}">
        <p14:creationId xmlns:p14="http://schemas.microsoft.com/office/powerpoint/2010/main" val="60167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CEA90-43D3-4438-2E50-86A8E6C521F6}"/>
              </a:ext>
            </a:extLst>
          </p:cNvPr>
          <p:cNvSpPr>
            <a:spLocks noGrp="1"/>
          </p:cNvSpPr>
          <p:nvPr>
            <p:ph type="title"/>
          </p:nvPr>
        </p:nvSpPr>
        <p:spPr/>
        <p:txBody>
          <a:bodyPr>
            <a:normAutofit fontScale="90000"/>
          </a:bodyPr>
          <a:lstStyle/>
          <a:p>
            <a:r>
              <a:rPr lang="en-US"/>
              <a:t>Computational Techniques – K-Fold CV</a:t>
            </a:r>
          </a:p>
        </p:txBody>
      </p:sp>
      <p:sp>
        <p:nvSpPr>
          <p:cNvPr id="3" name="Text Placeholder 2">
            <a:extLst>
              <a:ext uri="{FF2B5EF4-FFF2-40B4-BE49-F238E27FC236}">
                <a16:creationId xmlns:a16="http://schemas.microsoft.com/office/drawing/2014/main" id="{1204AD00-FE1C-EB57-BE3F-E51F68978169}"/>
              </a:ext>
            </a:extLst>
          </p:cNvPr>
          <p:cNvSpPr>
            <a:spLocks noGrp="1"/>
          </p:cNvSpPr>
          <p:nvPr>
            <p:ph type="body" idx="1"/>
          </p:nvPr>
        </p:nvSpPr>
        <p:spPr>
          <a:xfrm>
            <a:off x="311700" y="1369297"/>
            <a:ext cx="3501515" cy="3080734"/>
          </a:xfrm>
        </p:spPr>
        <p:txBody>
          <a:bodyPr>
            <a:normAutofit/>
          </a:bodyPr>
          <a:lstStyle/>
          <a:p>
            <a:r>
              <a:rPr lang="en-US" sz="1400"/>
              <a:t>Split data 5 different times</a:t>
            </a:r>
          </a:p>
          <a:p>
            <a:r>
              <a:rPr lang="en-US" sz="1400"/>
              <a:t>Train and test the model for each split</a:t>
            </a:r>
          </a:p>
          <a:p>
            <a:r>
              <a:rPr lang="en-US" sz="1400"/>
              <a:t>Calculate the average R^2 and RMSE Score</a:t>
            </a:r>
          </a:p>
        </p:txBody>
      </p:sp>
      <p:pic>
        <p:nvPicPr>
          <p:cNvPr id="5" name="Picture 4">
            <a:hlinkClick r:id="rId2"/>
            <a:extLst>
              <a:ext uri="{FF2B5EF4-FFF2-40B4-BE49-F238E27FC236}">
                <a16:creationId xmlns:a16="http://schemas.microsoft.com/office/drawing/2014/main" id="{87D16060-02C8-82F6-2B2A-A068A8251F60}"/>
              </a:ext>
            </a:extLst>
          </p:cNvPr>
          <p:cNvPicPr>
            <a:picLocks noChangeAspect="1"/>
          </p:cNvPicPr>
          <p:nvPr/>
        </p:nvPicPr>
        <p:blipFill>
          <a:blip r:embed="rId3"/>
          <a:stretch>
            <a:fillRect/>
          </a:stretch>
        </p:blipFill>
        <p:spPr>
          <a:xfrm>
            <a:off x="3834951" y="1369297"/>
            <a:ext cx="4997349" cy="1827389"/>
          </a:xfrm>
          <a:prstGeom prst="rect">
            <a:avLst/>
          </a:prstGeom>
        </p:spPr>
      </p:pic>
      <p:sp>
        <p:nvSpPr>
          <p:cNvPr id="6" name="TextBox 5">
            <a:extLst>
              <a:ext uri="{FF2B5EF4-FFF2-40B4-BE49-F238E27FC236}">
                <a16:creationId xmlns:a16="http://schemas.microsoft.com/office/drawing/2014/main" id="{93D31E91-AD69-E1DC-FCD8-6B24B64F6D59}"/>
              </a:ext>
            </a:extLst>
          </p:cNvPr>
          <p:cNvSpPr txBox="1"/>
          <p:nvPr/>
        </p:nvSpPr>
        <p:spPr>
          <a:xfrm>
            <a:off x="5330786" y="3196686"/>
            <a:ext cx="2005677" cy="246221"/>
          </a:xfrm>
          <a:prstGeom prst="rect">
            <a:avLst/>
          </a:prstGeom>
          <a:noFill/>
        </p:spPr>
        <p:txBody>
          <a:bodyPr wrap="none" rtlCol="0">
            <a:spAutoFit/>
          </a:bodyPr>
          <a:lstStyle/>
          <a:p>
            <a:r>
              <a:rPr lang="en-US" sz="1000"/>
              <a:t>Sourced from: </a:t>
            </a:r>
            <a:r>
              <a:rPr lang="en-US" sz="1000">
                <a:hlinkClick r:id="rId2"/>
              </a:rPr>
              <a:t>Lecture 13 Slides</a:t>
            </a:r>
            <a:endParaRPr lang="en-US" sz="1000"/>
          </a:p>
        </p:txBody>
      </p:sp>
    </p:spTree>
    <p:extLst>
      <p:ext uri="{BB962C8B-B14F-4D97-AF65-F5344CB8AC3E}">
        <p14:creationId xmlns:p14="http://schemas.microsoft.com/office/powerpoint/2010/main" val="3002417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96920-A20E-5B6C-B926-73082DFF2F39}"/>
              </a:ext>
            </a:extLst>
          </p:cNvPr>
          <p:cNvSpPr>
            <a:spLocks noGrp="1"/>
          </p:cNvSpPr>
          <p:nvPr>
            <p:ph type="title"/>
          </p:nvPr>
        </p:nvSpPr>
        <p:spPr/>
        <p:txBody>
          <a:bodyPr>
            <a:normAutofit fontScale="90000"/>
          </a:bodyPr>
          <a:lstStyle/>
          <a:p>
            <a:r>
              <a:rPr lang="en-US"/>
              <a:t>Computational Techniques – </a:t>
            </a:r>
            <a:r>
              <a:rPr lang="en-US" err="1"/>
              <a:t>Sklearn</a:t>
            </a:r>
            <a:r>
              <a:rPr lang="en-US"/>
              <a:t> Post-Train Pruning Techniques</a:t>
            </a:r>
          </a:p>
        </p:txBody>
      </p:sp>
      <p:sp>
        <p:nvSpPr>
          <p:cNvPr id="3" name="Text Placeholder 2">
            <a:extLst>
              <a:ext uri="{FF2B5EF4-FFF2-40B4-BE49-F238E27FC236}">
                <a16:creationId xmlns:a16="http://schemas.microsoft.com/office/drawing/2014/main" id="{4CC13F3D-57DB-62CE-DC0D-74F1DF343CB6}"/>
              </a:ext>
            </a:extLst>
          </p:cNvPr>
          <p:cNvSpPr>
            <a:spLocks noGrp="1"/>
          </p:cNvSpPr>
          <p:nvPr>
            <p:ph type="body" idx="1"/>
          </p:nvPr>
        </p:nvSpPr>
        <p:spPr>
          <a:xfrm>
            <a:off x="311700" y="1470211"/>
            <a:ext cx="4003881" cy="3098663"/>
          </a:xfrm>
        </p:spPr>
        <p:txBody>
          <a:bodyPr>
            <a:normAutofit/>
          </a:bodyPr>
          <a:lstStyle/>
          <a:p>
            <a:r>
              <a:rPr lang="en-US" sz="1400"/>
              <a:t>Train the model with max amount of nodes</a:t>
            </a:r>
          </a:p>
          <a:p>
            <a:r>
              <a:rPr lang="en-US" sz="1400"/>
              <a:t>Prune node, train model again and calculate test error</a:t>
            </a:r>
          </a:p>
          <a:p>
            <a:r>
              <a:rPr lang="en-US" sz="1400"/>
              <a:t>After pruning all but one node, choose model with lowest test error</a:t>
            </a:r>
          </a:p>
          <a:p>
            <a:r>
              <a:rPr lang="en-US" sz="1400" err="1"/>
              <a:t>ccp_alpha</a:t>
            </a:r>
            <a:r>
              <a:rPr lang="en-US" sz="1400"/>
              <a:t> value corresponds to how many nodes were pruned (the higher the </a:t>
            </a:r>
            <a:r>
              <a:rPr lang="en-US" sz="1400" err="1"/>
              <a:t>ccp_alpha</a:t>
            </a:r>
            <a:r>
              <a:rPr lang="en-US" sz="1400"/>
              <a:t>, the more nodes were pruned)</a:t>
            </a:r>
          </a:p>
        </p:txBody>
      </p:sp>
      <p:pic>
        <p:nvPicPr>
          <p:cNvPr id="2050" name="Picture 2" descr="Accuracy vs alpha for training and testing sets">
            <a:hlinkClick r:id="rId2"/>
            <a:extLst>
              <a:ext uri="{FF2B5EF4-FFF2-40B4-BE49-F238E27FC236}">
                <a16:creationId xmlns:a16="http://schemas.microsoft.com/office/drawing/2014/main" id="{73DE8EB7-B389-5CC4-CD7F-E04F632BA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0748" y="1470211"/>
            <a:ext cx="4131551" cy="30986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2A62D87-E506-2209-DF32-10C38C03C331}"/>
              </a:ext>
            </a:extLst>
          </p:cNvPr>
          <p:cNvSpPr txBox="1"/>
          <p:nvPr/>
        </p:nvSpPr>
        <p:spPr>
          <a:xfrm>
            <a:off x="5840091" y="4575364"/>
            <a:ext cx="1852863" cy="246221"/>
          </a:xfrm>
          <a:prstGeom prst="rect">
            <a:avLst/>
          </a:prstGeom>
          <a:noFill/>
        </p:spPr>
        <p:txBody>
          <a:bodyPr wrap="square" rtlCol="0">
            <a:spAutoFit/>
          </a:bodyPr>
          <a:lstStyle/>
          <a:p>
            <a:r>
              <a:rPr lang="en-US" sz="1000"/>
              <a:t>Sourced from: </a:t>
            </a:r>
            <a:r>
              <a:rPr lang="en-US" sz="1000">
                <a:hlinkClick r:id="rId2"/>
              </a:rPr>
              <a:t>scikit-learn.org</a:t>
            </a:r>
            <a:endParaRPr lang="en-US" sz="1000"/>
          </a:p>
        </p:txBody>
      </p:sp>
    </p:spTree>
    <p:extLst>
      <p:ext uri="{BB962C8B-B14F-4D97-AF65-F5344CB8AC3E}">
        <p14:creationId xmlns:p14="http://schemas.microsoft.com/office/powerpoint/2010/main" val="351421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8F06-0144-857C-0B8A-33E9CBDF63C3}"/>
              </a:ext>
            </a:extLst>
          </p:cNvPr>
          <p:cNvSpPr>
            <a:spLocks noGrp="1"/>
          </p:cNvSpPr>
          <p:nvPr>
            <p:ph type="title"/>
          </p:nvPr>
        </p:nvSpPr>
        <p:spPr/>
        <p:txBody>
          <a:bodyPr>
            <a:normAutofit fontScale="90000"/>
          </a:bodyPr>
          <a:lstStyle/>
          <a:p>
            <a:r>
              <a:rPr lang="en-US"/>
              <a:t>Results</a:t>
            </a:r>
          </a:p>
        </p:txBody>
      </p:sp>
      <p:sp>
        <p:nvSpPr>
          <p:cNvPr id="3" name="Text Placeholder 2">
            <a:extLst>
              <a:ext uri="{FF2B5EF4-FFF2-40B4-BE49-F238E27FC236}">
                <a16:creationId xmlns:a16="http://schemas.microsoft.com/office/drawing/2014/main" id="{7270BEEB-A367-43CC-733B-DB58CF9ED250}"/>
              </a:ext>
            </a:extLst>
          </p:cNvPr>
          <p:cNvSpPr>
            <a:spLocks noGrp="1"/>
          </p:cNvSpPr>
          <p:nvPr>
            <p:ph type="body" idx="1"/>
          </p:nvPr>
        </p:nvSpPr>
        <p:spPr/>
        <p:txBody>
          <a:bodyPr>
            <a:normAutofit lnSpcReduction="10000"/>
          </a:bodyPr>
          <a:lstStyle/>
          <a:p>
            <a:pPr marL="165100" indent="0">
              <a:buNone/>
            </a:pPr>
            <a:r>
              <a:rPr lang="en-US" sz="1400" b="1"/>
              <a:t>Conclusion:</a:t>
            </a:r>
          </a:p>
          <a:p>
            <a:r>
              <a:rPr lang="en-US" sz="1400"/>
              <a:t>We determined that it is not possible to determine school type from exam score </a:t>
            </a:r>
          </a:p>
          <a:p>
            <a:pPr lvl="1"/>
            <a:r>
              <a:rPr lang="en-US" sz="1200"/>
              <a:t>The logistic regression gave an accuracy score of 0.496</a:t>
            </a:r>
          </a:p>
          <a:p>
            <a:pPr lvl="1"/>
            <a:r>
              <a:rPr lang="en-US" sz="1200"/>
              <a:t>Random Forest gave a result of 0.4875</a:t>
            </a:r>
          </a:p>
          <a:p>
            <a:r>
              <a:rPr lang="en-US" sz="1400"/>
              <a:t>We also determined that consistently across models school type is not within the top three predictors of exam score</a:t>
            </a:r>
          </a:p>
          <a:p>
            <a:pPr lvl="1"/>
            <a:r>
              <a:rPr lang="en-US" sz="1200"/>
              <a:t>Linear regression: Access to recourses - low, Parental involvement - low, Family income -low</a:t>
            </a:r>
          </a:p>
          <a:p>
            <a:pPr lvl="1"/>
            <a:r>
              <a:rPr lang="en-US" sz="1200"/>
              <a:t>Pruned random forest: Attendance, hours studied, and previous scores</a:t>
            </a:r>
          </a:p>
          <a:p>
            <a:pPr lvl="1"/>
            <a:r>
              <a:rPr lang="en-US" sz="1200"/>
              <a:t>Same for unpruned </a:t>
            </a:r>
          </a:p>
          <a:p>
            <a:r>
              <a:rPr lang="en-US" sz="1400"/>
              <a:t>This leads us to believe that based on exam score </a:t>
            </a:r>
            <a:r>
              <a:rPr lang="en-US" sz="1400" b="1"/>
              <a:t>private school is not worth it’s cost</a:t>
            </a:r>
          </a:p>
          <a:p>
            <a:pPr marL="165100" indent="0">
              <a:buNone/>
            </a:pPr>
            <a:endParaRPr lang="en-US" sz="1400"/>
          </a:p>
          <a:p>
            <a:pPr marL="165100" indent="0">
              <a:buNone/>
            </a:pPr>
            <a:r>
              <a:rPr lang="en-US" sz="1400" b="1"/>
              <a:t>Further Testing:</a:t>
            </a:r>
          </a:p>
          <a:p>
            <a:r>
              <a:rPr lang="en-US" sz="1400"/>
              <a:t>Further investigation of the worth of the worth of private school could involve looking into access to extracurriculars, teacher quality, and peer influence </a:t>
            </a:r>
          </a:p>
          <a:p>
            <a:r>
              <a:rPr lang="en-US" sz="1400"/>
              <a:t>Bigger dataset with more observations </a:t>
            </a:r>
          </a:p>
        </p:txBody>
      </p:sp>
    </p:spTree>
    <p:extLst>
      <p:ext uri="{BB962C8B-B14F-4D97-AF65-F5344CB8AC3E}">
        <p14:creationId xmlns:p14="http://schemas.microsoft.com/office/powerpoint/2010/main" val="2636593916"/>
      </p:ext>
    </p:extLst>
  </p:cSld>
  <p:clrMapOvr>
    <a:masterClrMapping/>
  </p:clrMapOvr>
</p:sld>
</file>

<file path=ppt/theme/theme1.xml><?xml version="1.0" encoding="utf-8"?>
<a:theme xmlns:a="http://schemas.openxmlformats.org/drawingml/2006/main"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22177130-642f-41d9-9211-74237ad5687d}" enabled="0" method="" siteId="{22177130-642f-41d9-9211-74237ad5687d}" removed="1"/>
</clbl:labelList>
</file>

<file path=docProps/app.xml><?xml version="1.0" encoding="utf-8"?>
<Properties xmlns="http://schemas.openxmlformats.org/officeDocument/2006/extended-properties" xmlns:vt="http://schemas.openxmlformats.org/officeDocument/2006/docPropsVTypes">
  <TotalTime>0</TotalTime>
  <Words>457</Words>
  <Application>Microsoft Office PowerPoint</Application>
  <PresentationFormat>On-screen Show (16:9)</PresentationFormat>
  <Paragraphs>57</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Merriweather</vt:lpstr>
      <vt:lpstr>DM Sans Medium</vt:lpstr>
      <vt:lpstr>DM Sans</vt:lpstr>
      <vt:lpstr>Arial</vt:lpstr>
      <vt:lpstr>Science Presentation</vt:lpstr>
      <vt:lpstr>Is Private School worth the cost?</vt:lpstr>
      <vt:lpstr>Defining the Dataset and Question</vt:lpstr>
      <vt:lpstr>The Models – Classification and Regression</vt:lpstr>
      <vt:lpstr>Computational Techniques – Forward/Backward Selection</vt:lpstr>
      <vt:lpstr>Computational Techniques – K-Fold CV</vt:lpstr>
      <vt:lpstr>Computational Techniques – Sklearn Post-Train Pruning Techniques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Jack Cienkus</dc:creator>
  <cp:lastModifiedBy>Cienkus, Jack</cp:lastModifiedBy>
  <cp:revision>2</cp:revision>
  <dcterms:modified xsi:type="dcterms:W3CDTF">2026-04-24T02:25:07Z</dcterms:modified>
</cp:coreProperties>
</file>